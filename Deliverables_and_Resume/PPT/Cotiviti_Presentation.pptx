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3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1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5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4.png"/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6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9.png"/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4206240"/>
            <a:ext cx="5029200" cy="5029200"/>
          </a:xfrm>
          <a:prstGeom prst="ellipse">
            <a:avLst/>
          </a:prstGeom>
          <a:solidFill>
            <a:srgbClr val="141B48"/>
          </a:solidFill>
        </p:spPr>
      </p:sp>
      <p:sp>
        <p:nvSpPr>
          <p:cNvPr id="3" name="Shape 1"/>
          <p:cNvSpPr/>
          <p:nvPr/>
        </p:nvSpPr>
        <p:spPr>
          <a:xfrm>
            <a:off x="10607040" y="5394960"/>
            <a:ext cx="2651760" cy="2651760"/>
          </a:xfrm>
          <a:prstGeom prst="ellipse">
            <a:avLst/>
          </a:prstGeom>
          <a:solidFill>
            <a:srgbClr val="232C6B"/>
          </a:solidFill>
        </p:spPr>
      </p:sp>
      <p:sp>
        <p:nvSpPr>
          <p:cNvPr id="4" name="Text 2"/>
          <p:cNvSpPr/>
          <p:nvPr/>
        </p:nvSpPr>
        <p:spPr>
          <a:xfrm>
            <a:off x="731520" y="1965960"/>
            <a:ext cx="91440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INTEGRITY  •  AGENTIC AI  •  ANOMALY DETECTION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2423160"/>
            <a:ext cx="9875520" cy="1463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44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Clinical Decision Making and Pattern Recognition in Health Care</a:t>
            </a:r>
            <a:endParaRPr lang="en-US" sz="4000" b="1" dirty="0">
              <a:solidFill>
                <a:srgbClr val="FFFFFF"/>
              </a:solidFill>
              <a:latin typeface="Cambria" pitchFamily="34" charset="0"/>
              <a:ea typeface="Cambria" pitchFamily="34" charset="-122"/>
              <a:cs typeface="Cambria" pitchFamily="34" charset="-120"/>
            </a:endParaRPr>
          </a:p>
        </p:txBody>
      </p:sp>
      <p:sp>
        <p:nvSpPr>
          <p:cNvPr id="6" name="Text 4"/>
          <p:cNvSpPr/>
          <p:nvPr/>
        </p:nvSpPr>
        <p:spPr>
          <a:xfrm>
            <a:off x="731520" y="3840480"/>
            <a:ext cx="96012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Opportunities for Agentic AI at Cotiviti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731520" y="5349240"/>
            <a:ext cx="1280160" cy="0"/>
          </a:xfrm>
          <a:prstGeom prst="line">
            <a:avLst/>
          </a:prstGeom>
          <a:noFill/>
          <a:ln w="25400">
            <a:solidFill>
              <a:srgbClr val="CADCF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5532120"/>
            <a:ext cx="54864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Priya Mittal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31520" y="5897880"/>
            <a:ext cx="54864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 Applicant  |  August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457200"/>
            <a:ext cx="73152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Concept Definition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280160"/>
            <a:ext cx="10789285" cy="17373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ts val="2200"/>
              </a:lnSpc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decision-making and pattern recognition in health care surfaces actionable signals from complex, high-volume data. Within Treatment, Payment, and Operations (TPO) workflows, this applies directly to Cotiviti's core mission of payment integrity — identifying improper, fraudulent, or anomalous claims with a defensible, auditable rationale, not a black-box score.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" y="2871470"/>
            <a:ext cx="54864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SEVEN CONVERGING TECHNIQUES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40080" y="3356102"/>
            <a:ext cx="118872" cy="118872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8" name="Text 6"/>
          <p:cNvSpPr/>
          <p:nvPr/>
        </p:nvSpPr>
        <p:spPr>
          <a:xfrm>
            <a:off x="896112" y="3255518"/>
            <a:ext cx="2514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40080" y="3740150"/>
            <a:ext cx="118872" cy="118872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10" name="Text 8"/>
          <p:cNvSpPr/>
          <p:nvPr/>
        </p:nvSpPr>
        <p:spPr>
          <a:xfrm>
            <a:off x="896112" y="3639566"/>
            <a:ext cx="2514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40080" y="4124198"/>
            <a:ext cx="118872" cy="118872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12" name="Text 10"/>
          <p:cNvSpPr/>
          <p:nvPr/>
        </p:nvSpPr>
        <p:spPr>
          <a:xfrm>
            <a:off x="896112" y="4023614"/>
            <a:ext cx="2514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40080" y="4508246"/>
            <a:ext cx="118872" cy="118872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14" name="Text 12"/>
          <p:cNvSpPr/>
          <p:nvPr/>
        </p:nvSpPr>
        <p:spPr>
          <a:xfrm>
            <a:off x="896112" y="4407662"/>
            <a:ext cx="2514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Clustering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3520440" y="3356102"/>
            <a:ext cx="118872" cy="118872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16" name="Text 14"/>
          <p:cNvSpPr/>
          <p:nvPr/>
        </p:nvSpPr>
        <p:spPr>
          <a:xfrm>
            <a:off x="3776472" y="3255518"/>
            <a:ext cx="26517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Time-Series Anomaly Detection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3520440" y="3740150"/>
            <a:ext cx="118872" cy="118872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18" name="Text 16"/>
          <p:cNvSpPr/>
          <p:nvPr/>
        </p:nvSpPr>
        <p:spPr>
          <a:xfrm>
            <a:off x="3776472" y="3639566"/>
            <a:ext cx="26517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 Reasoning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3520440" y="4124198"/>
            <a:ext cx="118872" cy="118872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20" name="Text 18"/>
          <p:cNvSpPr/>
          <p:nvPr/>
        </p:nvSpPr>
        <p:spPr>
          <a:xfrm>
            <a:off x="3776472" y="4023614"/>
            <a:ext cx="26517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Generative AI</a:t>
            </a:r>
            <a:endParaRPr lang="en-US" sz="1250" dirty="0"/>
          </a:p>
        </p:txBody>
      </p:sp>
      <p:pic>
        <p:nvPicPr>
          <p:cNvPr id="23" name="Image 0" descr="icons/shiel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78824" y="2157984"/>
            <a:ext cx="713232" cy="713232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7223760" y="3383280"/>
            <a:ext cx="40233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Payment Integrity</a:t>
            </a:r>
            <a:endParaRPr lang="en-US" sz="1800" dirty="0"/>
          </a:p>
        </p:txBody>
      </p:sp>
      <p:sp>
        <p:nvSpPr>
          <p:cNvPr id="25" name="Text 22"/>
          <p:cNvSpPr/>
          <p:nvPr/>
        </p:nvSpPr>
        <p:spPr>
          <a:xfrm>
            <a:off x="7406640" y="3931920"/>
            <a:ext cx="3657600" cy="17373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lnSpc>
                <a:spcPts val="1900"/>
              </a:lnSpc>
              <a:buNone/>
            </a:pP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457200"/>
            <a:ext cx="73152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Relevant Trends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85800" y="1453896"/>
            <a:ext cx="640080" cy="640080"/>
          </a:xfrm>
          <a:prstGeom prst="ellipse">
            <a:avLst/>
          </a:prstGeom>
          <a:solidFill>
            <a:srgbClr val="1E2761"/>
          </a:solidFill>
        </p:spPr>
      </p:sp>
      <p:pic>
        <p:nvPicPr>
          <p:cNvPr id="6" name="Image 0" descr="icons/classification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9419" y="1607515"/>
            <a:ext cx="332842" cy="33284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1325880"/>
            <a:ext cx="374904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&amp; Prediction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1600200" y="1636776"/>
            <a:ext cx="3794760" cy="7315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ts val="1450"/>
              </a:lnSpc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Supervised models predicting denial-prone, delayed, or fraudulent claims are now standard in commercial payment-integrity platforms.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85800" y="2496312"/>
            <a:ext cx="640080" cy="640080"/>
          </a:xfrm>
          <a:prstGeom prst="ellipse">
            <a:avLst/>
          </a:prstGeom>
          <a:solidFill>
            <a:srgbClr val="1E2761"/>
          </a:solidFill>
        </p:spPr>
      </p:sp>
      <p:pic>
        <p:nvPicPr>
          <p:cNvPr id="10" name="Image 1" descr="icons/cluster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9419" y="2649931"/>
            <a:ext cx="332842" cy="33284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600200" y="2368296"/>
            <a:ext cx="374904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Clustering</a:t>
            </a:r>
            <a:endParaRPr lang="en-US" sz="1450" dirty="0"/>
          </a:p>
        </p:txBody>
      </p:sp>
      <p:sp>
        <p:nvSpPr>
          <p:cNvPr id="12" name="Text 8"/>
          <p:cNvSpPr/>
          <p:nvPr/>
        </p:nvSpPr>
        <p:spPr>
          <a:xfrm>
            <a:off x="1600200" y="2679192"/>
            <a:ext cx="3794760" cy="7315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ts val="1450"/>
              </a:lnSpc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Defines peer-group “normal.” A claim only reads as anomalous relative to the cluster it belongs to.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685800" y="3538728"/>
            <a:ext cx="640080" cy="640080"/>
          </a:xfrm>
          <a:prstGeom prst="ellipse">
            <a:avLst/>
          </a:prstGeom>
          <a:solidFill>
            <a:srgbClr val="1E2761"/>
          </a:solidFill>
        </p:spPr>
      </p:sp>
      <p:pic>
        <p:nvPicPr>
          <p:cNvPr id="14" name="Image 2" descr="icons/inferen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9419" y="3692347"/>
            <a:ext cx="332842" cy="33284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600200" y="3410712"/>
            <a:ext cx="374904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</a:t>
            </a:r>
            <a:endParaRPr lang="en-US" sz="1450" dirty="0"/>
          </a:p>
        </p:txBody>
      </p:sp>
      <p:sp>
        <p:nvSpPr>
          <p:cNvPr id="16" name="Text 11"/>
          <p:cNvSpPr/>
          <p:nvPr/>
        </p:nvSpPr>
        <p:spPr>
          <a:xfrm>
            <a:off x="1600200" y="3721608"/>
            <a:ext cx="3794760" cy="7315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ts val="1450"/>
              </a:lnSpc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Traces which billing features or contract terms drive over/under payment — explains root cause, not just symptom.</a:t>
            </a:r>
            <a:endParaRPr lang="en-US" sz="1100" dirty="0"/>
          </a:p>
        </p:txBody>
      </p:sp>
      <p:sp>
        <p:nvSpPr>
          <p:cNvPr id="17" name="Shape 12"/>
          <p:cNvSpPr/>
          <p:nvPr/>
        </p:nvSpPr>
        <p:spPr>
          <a:xfrm>
            <a:off x="685800" y="4581144"/>
            <a:ext cx="640080" cy="640080"/>
          </a:xfrm>
          <a:prstGeom prst="ellipse">
            <a:avLst/>
          </a:prstGeom>
          <a:solidFill>
            <a:srgbClr val="1E2761"/>
          </a:solidFill>
        </p:spPr>
      </p:sp>
      <p:pic>
        <p:nvPicPr>
          <p:cNvPr id="18" name="Image 3" descr="icons/anomal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9419" y="4734763"/>
            <a:ext cx="332842" cy="332842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600200" y="4453128"/>
            <a:ext cx="374904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Time-Series Anomaly Detection</a:t>
            </a:r>
            <a:endParaRPr lang="en-US" sz="1450" dirty="0"/>
          </a:p>
        </p:txBody>
      </p:sp>
      <p:sp>
        <p:nvSpPr>
          <p:cNvPr id="20" name="Text 14"/>
          <p:cNvSpPr/>
          <p:nvPr/>
        </p:nvSpPr>
        <p:spPr>
          <a:xfrm>
            <a:off x="1600200" y="4764024"/>
            <a:ext cx="3794760" cy="7315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ts val="1450"/>
              </a:lnSpc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Shifting toward reconstruction-error models (autoencoders). Mirrors my own NAPS 2026 research — max-aggregation nearly doubled sensitivity.</a:t>
            </a:r>
            <a:endParaRPr lang="en-US" sz="1100" dirty="0"/>
          </a:p>
        </p:txBody>
      </p:sp>
      <p:sp>
        <p:nvSpPr>
          <p:cNvPr id="21" name="Shape 15"/>
          <p:cNvSpPr/>
          <p:nvPr/>
        </p:nvSpPr>
        <p:spPr>
          <a:xfrm>
            <a:off x="685800" y="5623560"/>
            <a:ext cx="640080" cy="640080"/>
          </a:xfrm>
          <a:prstGeom prst="ellipse">
            <a:avLst/>
          </a:prstGeom>
          <a:solidFill>
            <a:srgbClr val="1E2761"/>
          </a:solidFill>
        </p:spPr>
      </p:sp>
      <p:pic>
        <p:nvPicPr>
          <p:cNvPr id="22" name="Image 4" descr="icons/chai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9419" y="5777179"/>
            <a:ext cx="332842" cy="332842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1600200" y="5495544"/>
            <a:ext cx="374904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 Reasoning + Agentic AI</a:t>
            </a:r>
            <a:endParaRPr lang="en-US" sz="1450" dirty="0"/>
          </a:p>
        </p:txBody>
      </p:sp>
      <p:sp>
        <p:nvSpPr>
          <p:cNvPr id="24" name="Text 17"/>
          <p:cNvSpPr/>
          <p:nvPr/>
        </p:nvSpPr>
        <p:spPr>
          <a:xfrm>
            <a:off x="1600200" y="5806440"/>
            <a:ext cx="3794760" cy="7315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ts val="1450"/>
              </a:lnSpc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 reasoning and autonomous tool use are now the standard architecture for clinical decision agents. Explainability is a deployment requirement.</a:t>
            </a:r>
            <a:endParaRPr lang="en-US" sz="1100" dirty="0"/>
          </a:p>
        </p:txBody>
      </p:sp>
      <p:sp>
        <p:nvSpPr>
          <p:cNvPr id="25" name="Shape 18"/>
          <p:cNvSpPr/>
          <p:nvPr/>
        </p:nvSpPr>
        <p:spPr>
          <a:xfrm>
            <a:off x="5806440" y="1371600"/>
            <a:ext cx="5715000" cy="4846320"/>
          </a:xfrm>
          <a:prstGeom prst="roundRect">
            <a:avLst>
              <a:gd name="adj" fmla="val 2264"/>
            </a:avLst>
          </a:prstGeom>
          <a:solidFill>
            <a:srgbClr val="1E2761"/>
          </a:solidFill>
        </p:spPr>
      </p:sp>
      <p:sp>
        <p:nvSpPr>
          <p:cNvPr id="26" name="Text 19"/>
          <p:cNvSpPr/>
          <p:nvPr/>
        </p:nvSpPr>
        <p:spPr>
          <a:xfrm>
            <a:off x="6172200" y="1691640"/>
            <a:ext cx="5029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MY OWN RESEARCH</a:t>
            </a:r>
            <a:endParaRPr lang="en-US" sz="1100" dirty="0"/>
          </a:p>
        </p:txBody>
      </p:sp>
      <p:sp>
        <p:nvSpPr>
          <p:cNvPr id="27" name="Text 20"/>
          <p:cNvSpPr/>
          <p:nvPr/>
        </p:nvSpPr>
        <p:spPr>
          <a:xfrm>
            <a:off x="6172200" y="2103120"/>
            <a:ext cx="5029200" cy="17373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65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“The anomalies that matter most are often the worst single deviation in a claim — not the average deviation across a provider's history, which mean-based scoring tends to dilute.”</a:t>
            </a:r>
            <a:endParaRPr lang="en-US" sz="1650" dirty="0"/>
          </a:p>
        </p:txBody>
      </p:sp>
      <p:sp>
        <p:nvSpPr>
          <p:cNvPr id="28" name="Shape 21"/>
          <p:cNvSpPr/>
          <p:nvPr/>
        </p:nvSpPr>
        <p:spPr>
          <a:xfrm>
            <a:off x="6172200" y="3977640"/>
            <a:ext cx="914400" cy="0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</a:ln>
        </p:spPr>
      </p:sp>
      <p:sp>
        <p:nvSpPr>
          <p:cNvPr id="29" name="Text 22"/>
          <p:cNvSpPr/>
          <p:nvPr/>
        </p:nvSpPr>
        <p:spPr>
          <a:xfrm>
            <a:off x="6172200" y="4206240"/>
            <a:ext cx="155448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0.868</a:t>
            </a:r>
            <a:endParaRPr lang="en-US" sz="2600" dirty="0"/>
          </a:p>
        </p:txBody>
      </p:sp>
      <p:sp>
        <p:nvSpPr>
          <p:cNvPr id="30" name="Text 23"/>
          <p:cNvSpPr/>
          <p:nvPr/>
        </p:nvSpPr>
        <p:spPr>
          <a:xfrm>
            <a:off x="6172200" y="4736592"/>
            <a:ext cx="15544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Score</a:t>
            </a:r>
            <a:endParaRPr lang="en-US" sz="1050" dirty="0"/>
          </a:p>
        </p:txBody>
      </p:sp>
      <p:sp>
        <p:nvSpPr>
          <p:cNvPr id="31" name="Text 24"/>
          <p:cNvSpPr/>
          <p:nvPr/>
        </p:nvSpPr>
        <p:spPr>
          <a:xfrm>
            <a:off x="7863840" y="4206240"/>
            <a:ext cx="155448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1.000</a:t>
            </a:r>
            <a:endParaRPr lang="en-US" sz="2600" dirty="0"/>
          </a:p>
        </p:txBody>
      </p:sp>
      <p:sp>
        <p:nvSpPr>
          <p:cNvPr id="32" name="Text 25"/>
          <p:cNvSpPr/>
          <p:nvPr/>
        </p:nvSpPr>
        <p:spPr>
          <a:xfrm>
            <a:off x="7863840" y="4736592"/>
            <a:ext cx="15544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050" dirty="0"/>
          </a:p>
        </p:txBody>
      </p:sp>
      <p:sp>
        <p:nvSpPr>
          <p:cNvPr id="33" name="Text 26"/>
          <p:cNvSpPr/>
          <p:nvPr/>
        </p:nvSpPr>
        <p:spPr>
          <a:xfrm>
            <a:off x="9555480" y="4206240"/>
            <a:ext cx="155448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0.766</a:t>
            </a:r>
            <a:endParaRPr lang="en-US" sz="2600" dirty="0"/>
          </a:p>
        </p:txBody>
      </p:sp>
      <p:sp>
        <p:nvSpPr>
          <p:cNvPr id="34" name="Text 27"/>
          <p:cNvSpPr/>
          <p:nvPr/>
        </p:nvSpPr>
        <p:spPr>
          <a:xfrm>
            <a:off x="9555480" y="4736592"/>
            <a:ext cx="15544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1050" dirty="0"/>
          </a:p>
        </p:txBody>
      </p:sp>
      <p:sp>
        <p:nvSpPr>
          <p:cNvPr id="35" name="Text 28"/>
          <p:cNvSpPr/>
          <p:nvPr/>
        </p:nvSpPr>
        <p:spPr>
          <a:xfrm>
            <a:off x="6172200" y="5349240"/>
            <a:ext cx="50292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PCA-Autoencoder, mean→max aggregation switch  |  Accepted, IEEE NAPS 2026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457200"/>
            <a:ext cx="82296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Opportunities &amp; Threats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371600"/>
            <a:ext cx="5394960" cy="4846320"/>
          </a:xfrm>
          <a:prstGeom prst="roundRect">
            <a:avLst>
              <a:gd name="adj" fmla="val 2264"/>
            </a:avLst>
          </a:prstGeom>
          <a:solidFill>
            <a:srgbClr val="FFFFFF"/>
          </a:solidFill>
          <a:ln w="12700">
            <a:solidFill>
              <a:srgbClr val="E1E6EF"/>
            </a:solidFill>
            <a:prstDash val="solid"/>
          </a:ln>
          <a:effectLst>
            <a:outerShdw blurRad="101600" dist="38100" dir="5400000" algn="bl" rotWithShape="0">
              <a:srgbClr val="1A1A2E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097280" y="1645920"/>
            <a:ext cx="640080" cy="640080"/>
          </a:xfrm>
          <a:prstGeom prst="ellipse">
            <a:avLst/>
          </a:prstGeom>
          <a:solidFill>
            <a:srgbClr val="2E7D5B"/>
          </a:solidFill>
        </p:spPr>
      </p:sp>
      <p:pic>
        <p:nvPicPr>
          <p:cNvPr id="7" name="Image 0" descr="icons/target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50899" y="1799539"/>
            <a:ext cx="332842" cy="33284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74520" y="1664208"/>
            <a:ext cx="39319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E7D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Opportunities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868680" y="2423160"/>
            <a:ext cx="4937760" cy="35661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Catches what single techniques miss. </a:t>
            </a: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Combining clustering, anomaly detection, inference, and agentic reasoning surfaces fraud/waste/abuse patterns — especially emerging schemes with no historical label.
</a:t>
            </a:r>
            <a:r>
              <a:rPr lang="en-US" sz="12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Compresses reviewer time. </a:t>
            </a: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Surfaces not just what looks anomalous, but why — citing the specific contract clause or billing pattern.
</a:t>
            </a:r>
            <a:r>
              <a:rPr lang="en-US" sz="12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Strengthens prepay and postpay. </a:t>
            </a: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natural extension of Cotiviti's existing stack, with an audit trail reviewers can defend to providers and regulators.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263640" y="1371600"/>
            <a:ext cx="5394960" cy="4846320"/>
          </a:xfrm>
          <a:prstGeom prst="roundRect">
            <a:avLst>
              <a:gd name="adj" fmla="val 2264"/>
            </a:avLst>
          </a:prstGeom>
          <a:solidFill>
            <a:srgbClr val="FFFFFF"/>
          </a:solidFill>
          <a:ln w="12700">
            <a:solidFill>
              <a:srgbClr val="E1E6EF"/>
            </a:solidFill>
            <a:prstDash val="solid"/>
          </a:ln>
          <a:effectLst>
            <a:outerShdw blurRad="101600" dist="38100" dir="5400000" algn="bl" rotWithShape="0">
              <a:srgbClr val="1A1A2E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720840" y="1645920"/>
            <a:ext cx="640080" cy="640080"/>
          </a:xfrm>
          <a:prstGeom prst="ellipse">
            <a:avLst/>
          </a:prstGeom>
          <a:solidFill>
            <a:srgbClr val="B0413E"/>
          </a:solidFill>
        </p:spPr>
      </p:sp>
      <p:pic>
        <p:nvPicPr>
          <p:cNvPr id="12" name="Image 1" descr="icons/shiel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74459" y="1799539"/>
            <a:ext cx="332842" cy="33284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498080" y="1664208"/>
            <a:ext cx="39319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B04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Threats &amp; Risks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6492240" y="2423160"/>
            <a:ext cx="4937760" cy="35661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 abrasion at scale. </a:t>
            </a: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positives risk rising appeals volume — a persistent, unresolved challenge given class imbalance.
</a:t>
            </a:r>
            <a:r>
              <a:rPr lang="en-US" sz="12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Agentic-specific exposure. </a:t>
            </a: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coordination failures, model drift as billing patterns evolve, and regulatory risk if a reasoning trace can't be independently verified.
</a:t>
            </a:r>
            <a:r>
              <a:rPr lang="en-US" sz="12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constraints. </a:t>
            </a: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HIPAA limits how much raw claims data can drive continuous retraining without careful de-identification.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457200"/>
            <a:ext cx="82296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Strategic Recommendation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143000"/>
            <a:ext cx="105156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a narrow-scope agentic system on one bounded claims category — combining all five demonstrated techniques into a single pipeline.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2148840"/>
            <a:ext cx="1965960" cy="228600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1E6EF"/>
            </a:solidFill>
            <a:prstDash val="solid"/>
          </a:ln>
          <a:effectLst>
            <a:outerShdw blurRad="76200" dist="25400" dir="5400000" algn="bl" rotWithShape="0">
              <a:srgbClr val="1A1A2E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280160" y="2400300"/>
            <a:ext cx="685800" cy="685800"/>
          </a:xfrm>
          <a:prstGeom prst="ellipse">
            <a:avLst/>
          </a:prstGeom>
          <a:solidFill>
            <a:srgbClr val="1E2761"/>
          </a:solidFill>
        </p:spPr>
      </p:sp>
      <p:pic>
        <p:nvPicPr>
          <p:cNvPr id="8" name="Image 0" descr="icons/clustering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44752" y="2564892"/>
            <a:ext cx="356616" cy="35661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31520" y="3200400"/>
            <a:ext cx="17830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Clustering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749808" y="3566160"/>
            <a:ext cx="1746504" cy="7772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lnSpc>
                <a:spcPts val="1250"/>
              </a:lnSpc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peer-group norms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2606040" y="3017520"/>
            <a:ext cx="256032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2" name="Shape 9"/>
          <p:cNvSpPr/>
          <p:nvPr/>
        </p:nvSpPr>
        <p:spPr>
          <a:xfrm>
            <a:off x="2862072" y="2148840"/>
            <a:ext cx="1965960" cy="228600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1E6EF"/>
            </a:solidFill>
            <a:prstDash val="solid"/>
          </a:ln>
          <a:effectLst>
            <a:outerShdw blurRad="76200" dist="25400" dir="5400000" algn="bl" rotWithShape="0">
              <a:srgbClr val="1A1A2E">
                <a:alpha val="1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502152" y="2400300"/>
            <a:ext cx="685800" cy="685800"/>
          </a:xfrm>
          <a:prstGeom prst="ellipse">
            <a:avLst/>
          </a:prstGeom>
          <a:solidFill>
            <a:srgbClr val="1E2761"/>
          </a:solidFill>
        </p:spPr>
      </p:sp>
      <p:pic>
        <p:nvPicPr>
          <p:cNvPr id="14" name="Image 1" descr="icons/classific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6744" y="2564892"/>
            <a:ext cx="356616" cy="356616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2953512" y="3200400"/>
            <a:ext cx="17830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Classifier</a:t>
            </a:r>
            <a:endParaRPr lang="en-US" sz="1350" dirty="0"/>
          </a:p>
        </p:txBody>
      </p:sp>
      <p:sp>
        <p:nvSpPr>
          <p:cNvPr id="16" name="Text 12"/>
          <p:cNvSpPr/>
          <p:nvPr/>
        </p:nvSpPr>
        <p:spPr>
          <a:xfrm>
            <a:off x="2971800" y="3566160"/>
            <a:ext cx="1746504" cy="7772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lnSpc>
                <a:spcPts val="1250"/>
              </a:lnSpc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 risk scoring</a:t>
            </a:r>
            <a:endParaRPr lang="en-US" sz="1000" dirty="0"/>
          </a:p>
        </p:txBody>
      </p:sp>
      <p:sp>
        <p:nvSpPr>
          <p:cNvPr id="17" name="Text 13"/>
          <p:cNvSpPr/>
          <p:nvPr/>
        </p:nvSpPr>
        <p:spPr>
          <a:xfrm>
            <a:off x="4828032" y="3017520"/>
            <a:ext cx="256032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8" name="Shape 14"/>
          <p:cNvSpPr/>
          <p:nvPr/>
        </p:nvSpPr>
        <p:spPr>
          <a:xfrm>
            <a:off x="5084064" y="2148840"/>
            <a:ext cx="1965960" cy="228600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1E6EF"/>
            </a:solidFill>
            <a:prstDash val="solid"/>
          </a:ln>
          <a:effectLst>
            <a:outerShdw blurRad="76200" dist="25400" dir="5400000" algn="bl" rotWithShape="0">
              <a:srgbClr val="1A1A2E">
                <a:alpha val="10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5724144" y="2400300"/>
            <a:ext cx="685800" cy="685800"/>
          </a:xfrm>
          <a:prstGeom prst="ellipse">
            <a:avLst/>
          </a:prstGeom>
          <a:solidFill>
            <a:srgbClr val="1E2761"/>
          </a:solidFill>
        </p:spPr>
      </p:sp>
      <p:pic>
        <p:nvPicPr>
          <p:cNvPr id="20" name="Image 2" descr="icons/anomal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88736" y="2564892"/>
            <a:ext cx="356616" cy="356616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5175504" y="3200400"/>
            <a:ext cx="17830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Score</a:t>
            </a:r>
            <a:endParaRPr lang="en-US" sz="1350" dirty="0"/>
          </a:p>
        </p:txBody>
      </p:sp>
      <p:sp>
        <p:nvSpPr>
          <p:cNvPr id="22" name="Text 17"/>
          <p:cNvSpPr/>
          <p:nvPr/>
        </p:nvSpPr>
        <p:spPr>
          <a:xfrm>
            <a:off x="5193792" y="3566160"/>
            <a:ext cx="1746504" cy="7772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lnSpc>
                <a:spcPts val="1250"/>
              </a:lnSpc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Autoencoder, validated via max-aggregation</a:t>
            </a:r>
            <a:endParaRPr lang="en-US" sz="1000" dirty="0"/>
          </a:p>
        </p:txBody>
      </p:sp>
      <p:sp>
        <p:nvSpPr>
          <p:cNvPr id="23" name="Text 18"/>
          <p:cNvSpPr/>
          <p:nvPr/>
        </p:nvSpPr>
        <p:spPr>
          <a:xfrm>
            <a:off x="7050024" y="3017520"/>
            <a:ext cx="256032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4" name="Shape 19"/>
          <p:cNvSpPr/>
          <p:nvPr/>
        </p:nvSpPr>
        <p:spPr>
          <a:xfrm>
            <a:off x="7306056" y="2148840"/>
            <a:ext cx="1965960" cy="228600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1E6EF"/>
            </a:solidFill>
            <a:prstDash val="solid"/>
          </a:ln>
          <a:effectLst>
            <a:outerShdw blurRad="76200" dist="25400" dir="5400000" algn="bl" rotWithShape="0">
              <a:srgbClr val="1A1A2E">
                <a:alpha val="10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7946136" y="2400300"/>
            <a:ext cx="685800" cy="685800"/>
          </a:xfrm>
          <a:prstGeom prst="ellipse">
            <a:avLst/>
          </a:prstGeom>
          <a:solidFill>
            <a:srgbClr val="1E2761"/>
          </a:solidFill>
        </p:spPr>
      </p:sp>
      <p:pic>
        <p:nvPicPr>
          <p:cNvPr id="26" name="Image 3" descr="icons/inferenc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10728" y="2564892"/>
            <a:ext cx="356616" cy="356616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7397496" y="3200400"/>
            <a:ext cx="17830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</a:t>
            </a:r>
            <a:endParaRPr lang="en-US" sz="1350" dirty="0"/>
          </a:p>
        </p:txBody>
      </p:sp>
      <p:sp>
        <p:nvSpPr>
          <p:cNvPr id="28" name="Text 22"/>
          <p:cNvSpPr/>
          <p:nvPr/>
        </p:nvSpPr>
        <p:spPr>
          <a:xfrm>
            <a:off x="7415784" y="3566160"/>
            <a:ext cx="1746504" cy="7772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lnSpc>
                <a:spcPts val="1250"/>
              </a:lnSpc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the likely driver</a:t>
            </a:r>
            <a:endParaRPr lang="en-US" sz="1000" dirty="0"/>
          </a:p>
        </p:txBody>
      </p:sp>
      <p:sp>
        <p:nvSpPr>
          <p:cNvPr id="29" name="Text 23"/>
          <p:cNvSpPr/>
          <p:nvPr/>
        </p:nvSpPr>
        <p:spPr>
          <a:xfrm>
            <a:off x="9272016" y="3017520"/>
            <a:ext cx="256032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30" name="Shape 24"/>
          <p:cNvSpPr/>
          <p:nvPr/>
        </p:nvSpPr>
        <p:spPr>
          <a:xfrm>
            <a:off x="9528048" y="2148840"/>
            <a:ext cx="1965960" cy="228600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1E6EF"/>
            </a:solidFill>
            <a:prstDash val="solid"/>
          </a:ln>
          <a:effectLst>
            <a:outerShdw blurRad="76200" dist="25400" dir="5400000" algn="bl" rotWithShape="0">
              <a:srgbClr val="1A1A2E">
                <a:alpha val="10000"/>
              </a:srgbClr>
            </a:outerShdw>
          </a:effectLst>
        </p:spPr>
      </p:sp>
      <p:sp>
        <p:nvSpPr>
          <p:cNvPr id="31" name="Shape 25"/>
          <p:cNvSpPr/>
          <p:nvPr/>
        </p:nvSpPr>
        <p:spPr>
          <a:xfrm>
            <a:off x="10168128" y="2400300"/>
            <a:ext cx="685800" cy="685800"/>
          </a:xfrm>
          <a:prstGeom prst="ellipse">
            <a:avLst/>
          </a:prstGeom>
          <a:solidFill>
            <a:srgbClr val="1E2761"/>
          </a:solidFill>
        </p:spPr>
      </p:sp>
      <p:pic>
        <p:nvPicPr>
          <p:cNvPr id="32" name="Image 4" descr="icons/chai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32720" y="2564892"/>
            <a:ext cx="356616" cy="356616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9619488" y="3200400"/>
            <a:ext cx="17830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1350" dirty="0"/>
          </a:p>
        </p:txBody>
      </p:sp>
      <p:sp>
        <p:nvSpPr>
          <p:cNvPr id="34" name="Text 27"/>
          <p:cNvSpPr/>
          <p:nvPr/>
        </p:nvSpPr>
        <p:spPr>
          <a:xfrm>
            <a:off x="9637776" y="3566160"/>
            <a:ext cx="1746504" cy="7772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lnSpc>
                <a:spcPts val="1250"/>
              </a:lnSpc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Explains &amp; cites evidence, step by step</a:t>
            </a:r>
            <a:endParaRPr lang="en-US" sz="1000" dirty="0"/>
          </a:p>
        </p:txBody>
      </p:sp>
      <p:sp>
        <p:nvSpPr>
          <p:cNvPr id="35" name="Shape 28"/>
          <p:cNvSpPr/>
          <p:nvPr/>
        </p:nvSpPr>
        <p:spPr>
          <a:xfrm>
            <a:off x="640080" y="4800600"/>
            <a:ext cx="10881360" cy="1417320"/>
          </a:xfrm>
          <a:prstGeom prst="roundRect">
            <a:avLst>
              <a:gd name="adj" fmla="val 6452"/>
            </a:avLst>
          </a:prstGeom>
          <a:solidFill>
            <a:srgbClr val="1E2761"/>
          </a:solidFill>
        </p:spPr>
      </p:sp>
      <p:sp>
        <p:nvSpPr>
          <p:cNvPr id="36" name="Text 29"/>
          <p:cNvSpPr/>
          <p:nvPr/>
        </p:nvSpPr>
        <p:spPr>
          <a:xfrm>
            <a:off x="960120" y="4937760"/>
            <a:ext cx="10241280" cy="1143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bounded first: keeps the audit surface small, lets reviewers validate the reasoning trace against real cases before wider rollout, and builds the internal reasoning-trace standard that emerging XAI-in-agentic-AI literature identifies as the deciding factor for adoption.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457200"/>
            <a:ext cx="91440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Report to Proof of Concept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143000"/>
            <a:ext cx="105156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working prototype demonstrating 5 of the 7 techniques above, built on real CMS Medicare provider claims data.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2148840"/>
            <a:ext cx="1874520" cy="265176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E1E6EF"/>
            </a:solidFill>
            <a:prstDash val="solid"/>
          </a:ln>
          <a:effectLst>
            <a:outerShdw blurRad="76200" dist="25400" dir="5400000" algn="bl" rotWithShape="0">
              <a:srgbClr val="1A1A2E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257300" y="2377440"/>
            <a:ext cx="640080" cy="640080"/>
          </a:xfrm>
          <a:prstGeom prst="ellipse">
            <a:avLst/>
          </a:prstGeom>
          <a:solidFill>
            <a:srgbClr val="1E2761"/>
          </a:solidFill>
        </p:spPr>
      </p:sp>
      <p:pic>
        <p:nvPicPr>
          <p:cNvPr id="8" name="Image 0" descr="icons/data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10919" y="2531059"/>
            <a:ext cx="332842" cy="33284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13232" y="3108960"/>
            <a:ext cx="1728216" cy="5486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Claims Data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731520" y="3657600"/>
            <a:ext cx="1691640" cy="10515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CMS Medicare</a:t>
            </a:r>
            <a:endParaRPr lang="en-US" sz="950" dirty="0"/>
          </a:p>
          <a:p>
            <a:pPr marL="0" indent="0" algn="ctr">
              <a:lnSpc>
                <a:spcPts val="1200"/>
              </a:lnSpc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 fraud dataset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2514600" y="3200400"/>
            <a:ext cx="292608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2807208" y="2148840"/>
            <a:ext cx="1874520" cy="265176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E1E6EF"/>
            </a:solidFill>
            <a:prstDash val="solid"/>
          </a:ln>
          <a:effectLst>
            <a:outerShdw blurRad="76200" dist="25400" dir="5400000" algn="bl" rotWithShape="0">
              <a:srgbClr val="1A1A2E">
                <a:alpha val="1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424428" y="2377440"/>
            <a:ext cx="640080" cy="640080"/>
          </a:xfrm>
          <a:prstGeom prst="ellipse">
            <a:avLst/>
          </a:prstGeom>
          <a:solidFill>
            <a:srgbClr val="1E2761"/>
          </a:solidFill>
        </p:spPr>
      </p:sp>
      <p:pic>
        <p:nvPicPr>
          <p:cNvPr id="14" name="Image 1" descr="icons/anomal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8047" y="2531059"/>
            <a:ext cx="332842" cy="33284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2880360" y="3108960"/>
            <a:ext cx="1728216" cy="5486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PCA-AE +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250" dirty="0"/>
          </a:p>
        </p:txBody>
      </p:sp>
      <p:sp>
        <p:nvSpPr>
          <p:cNvPr id="16" name="Text 12"/>
          <p:cNvSpPr/>
          <p:nvPr/>
        </p:nvSpPr>
        <p:spPr>
          <a:xfrm>
            <a:off x="2898648" y="3657600"/>
            <a:ext cx="1691640" cy="10515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Unsupervised anomaly</a:t>
            </a:r>
            <a:endParaRPr lang="en-US" sz="950" dirty="0"/>
          </a:p>
          <a:p>
            <a:pPr marL="0" indent="0" algn="ctr">
              <a:lnSpc>
                <a:spcPts val="1200"/>
              </a:lnSpc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+ supervised</a:t>
            </a:r>
            <a:endParaRPr lang="en-US" sz="950" dirty="0"/>
          </a:p>
          <a:p>
            <a:pPr marL="0" indent="0" algn="ctr">
              <a:lnSpc>
                <a:spcPts val="1200"/>
              </a:lnSpc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classifier</a:t>
            </a:r>
            <a:endParaRPr lang="en-US" sz="950" dirty="0"/>
          </a:p>
        </p:txBody>
      </p:sp>
      <p:sp>
        <p:nvSpPr>
          <p:cNvPr id="17" name="Text 13"/>
          <p:cNvSpPr/>
          <p:nvPr/>
        </p:nvSpPr>
        <p:spPr>
          <a:xfrm>
            <a:off x="4681728" y="3200400"/>
            <a:ext cx="292608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8" name="Shape 14"/>
          <p:cNvSpPr/>
          <p:nvPr/>
        </p:nvSpPr>
        <p:spPr>
          <a:xfrm>
            <a:off x="4974336" y="2148840"/>
            <a:ext cx="1874520" cy="265176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E1E6EF"/>
            </a:solidFill>
            <a:prstDash val="solid"/>
          </a:ln>
          <a:effectLst>
            <a:outerShdw blurRad="76200" dist="25400" dir="5400000" algn="bl" rotWithShape="0">
              <a:srgbClr val="1A1A2E">
                <a:alpha val="10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5591556" y="2377440"/>
            <a:ext cx="640080" cy="640080"/>
          </a:xfrm>
          <a:prstGeom prst="ellipse">
            <a:avLst/>
          </a:prstGeom>
          <a:solidFill>
            <a:srgbClr val="1E2761"/>
          </a:solidFill>
        </p:spPr>
      </p:sp>
      <p:pic>
        <p:nvPicPr>
          <p:cNvPr id="20" name="Image 2" descr="icons/cluster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45175" y="2531059"/>
            <a:ext cx="332842" cy="332842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5047488" y="3108960"/>
            <a:ext cx="1728216" cy="5486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KMeans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Clustering</a:t>
            </a:r>
            <a:endParaRPr lang="en-US" sz="1250" dirty="0"/>
          </a:p>
        </p:txBody>
      </p:sp>
      <p:sp>
        <p:nvSpPr>
          <p:cNvPr id="22" name="Text 17"/>
          <p:cNvSpPr/>
          <p:nvPr/>
        </p:nvSpPr>
        <p:spPr>
          <a:xfrm>
            <a:off x="5065776" y="3657600"/>
            <a:ext cx="1691640" cy="10515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Peer-group norms for</a:t>
            </a:r>
            <a:endParaRPr lang="en-US" sz="950" dirty="0"/>
          </a:p>
          <a:p>
            <a:pPr marL="0" indent="0" algn="ctr">
              <a:lnSpc>
                <a:spcPts val="1200"/>
              </a:lnSpc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comparison</a:t>
            </a:r>
            <a:endParaRPr lang="en-US" sz="950" dirty="0"/>
          </a:p>
        </p:txBody>
      </p:sp>
      <p:sp>
        <p:nvSpPr>
          <p:cNvPr id="23" name="Text 18"/>
          <p:cNvSpPr/>
          <p:nvPr/>
        </p:nvSpPr>
        <p:spPr>
          <a:xfrm>
            <a:off x="6848856" y="3200400"/>
            <a:ext cx="292608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4" name="Shape 19"/>
          <p:cNvSpPr/>
          <p:nvPr/>
        </p:nvSpPr>
        <p:spPr>
          <a:xfrm>
            <a:off x="7141464" y="2148840"/>
            <a:ext cx="1874520" cy="2651760"/>
          </a:xfrm>
          <a:prstGeom prst="roundRect">
            <a:avLst>
              <a:gd name="adj" fmla="val 4878"/>
            </a:avLst>
          </a:prstGeom>
          <a:solidFill>
            <a:srgbClr val="1E2761"/>
          </a:solidFill>
          <a:ln w="12700">
            <a:solidFill>
              <a:srgbClr val="E1E6EF"/>
            </a:solidFill>
            <a:prstDash val="solid"/>
          </a:ln>
          <a:effectLst>
            <a:outerShdw blurRad="76200" dist="25400" dir="5400000" algn="bl" rotWithShape="0">
              <a:srgbClr val="1A1A2E">
                <a:alpha val="10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7758684" y="2377440"/>
            <a:ext cx="640080" cy="640080"/>
          </a:xfrm>
          <a:prstGeom prst="ellipse">
            <a:avLst/>
          </a:prstGeom>
          <a:solidFill>
            <a:srgbClr val="232C6B"/>
          </a:solidFill>
        </p:spPr>
      </p:sp>
      <p:pic>
        <p:nvPicPr>
          <p:cNvPr id="26" name="Image 3" descr="icons/age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12303" y="2531059"/>
            <a:ext cx="332842" cy="332842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7214616" y="3108960"/>
            <a:ext cx="1728216" cy="5486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1250" dirty="0"/>
          </a:p>
        </p:txBody>
      </p:sp>
      <p:sp>
        <p:nvSpPr>
          <p:cNvPr id="28" name="Text 22"/>
          <p:cNvSpPr/>
          <p:nvPr/>
        </p:nvSpPr>
        <p:spPr>
          <a:xfrm>
            <a:off x="7232904" y="3657600"/>
            <a:ext cx="1691640" cy="10515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 reasoning +</a:t>
            </a:r>
            <a:endParaRPr lang="en-US" sz="950" dirty="0"/>
          </a:p>
          <a:p>
            <a:pPr marL="0" indent="0" algn="ctr">
              <a:lnSpc>
                <a:spcPts val="12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tool-calling</a:t>
            </a:r>
            <a:endParaRPr lang="en-US" sz="950" dirty="0"/>
          </a:p>
        </p:txBody>
      </p:sp>
      <p:sp>
        <p:nvSpPr>
          <p:cNvPr id="29" name="Text 23"/>
          <p:cNvSpPr/>
          <p:nvPr/>
        </p:nvSpPr>
        <p:spPr>
          <a:xfrm>
            <a:off x="9015984" y="3200400"/>
            <a:ext cx="292608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30" name="Shape 24"/>
          <p:cNvSpPr/>
          <p:nvPr/>
        </p:nvSpPr>
        <p:spPr>
          <a:xfrm>
            <a:off x="9308592" y="2148840"/>
            <a:ext cx="1874520" cy="265176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E1E6EF"/>
            </a:solidFill>
            <a:prstDash val="solid"/>
          </a:ln>
          <a:effectLst>
            <a:outerShdw blurRad="76200" dist="25400" dir="5400000" algn="bl" rotWithShape="0">
              <a:srgbClr val="1A1A2E">
                <a:alpha val="10000"/>
              </a:srgbClr>
            </a:outerShdw>
          </a:effectLst>
        </p:spPr>
      </p:sp>
      <p:sp>
        <p:nvSpPr>
          <p:cNvPr id="31" name="Shape 25"/>
          <p:cNvSpPr/>
          <p:nvPr/>
        </p:nvSpPr>
        <p:spPr>
          <a:xfrm>
            <a:off x="9925812" y="2377440"/>
            <a:ext cx="640080" cy="640080"/>
          </a:xfrm>
          <a:prstGeom prst="ellipse">
            <a:avLst/>
          </a:prstGeom>
          <a:solidFill>
            <a:srgbClr val="1E2761"/>
          </a:solidFill>
        </p:spPr>
      </p:sp>
      <p:pic>
        <p:nvPicPr>
          <p:cNvPr id="32" name="Image 4" descr="icons/verdic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79431" y="2531059"/>
            <a:ext cx="332842" cy="332842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9381744" y="3108960"/>
            <a:ext cx="1728216" cy="5486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</a:t>
            </a:r>
            <a:endParaRPr lang="en-US" sz="1250" dirty="0"/>
          </a:p>
        </p:txBody>
      </p:sp>
      <p:sp>
        <p:nvSpPr>
          <p:cNvPr id="34" name="Text 27"/>
          <p:cNvSpPr/>
          <p:nvPr/>
        </p:nvSpPr>
        <p:spPr>
          <a:xfrm>
            <a:off x="9400032" y="3657600"/>
            <a:ext cx="1691640" cy="10515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/ Escalate /</a:t>
            </a:r>
            <a:endParaRPr lang="en-US" sz="950" dirty="0"/>
          </a:p>
          <a:p>
            <a:pPr marL="0" indent="0" algn="ctr">
              <a:lnSpc>
                <a:spcPts val="1200"/>
              </a:lnSpc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Deny, with rationale</a:t>
            </a:r>
            <a:endParaRPr lang="en-US" sz="950" dirty="0"/>
          </a:p>
        </p:txBody>
      </p:sp>
      <p:sp>
        <p:nvSpPr>
          <p:cNvPr id="35" name="Text 28"/>
          <p:cNvSpPr/>
          <p:nvPr/>
        </p:nvSpPr>
        <p:spPr>
          <a:xfrm>
            <a:off x="640080" y="4983480"/>
            <a:ext cx="5486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TECHNIQUES DEMONSTRATED</a:t>
            </a:r>
            <a:endParaRPr lang="en-US" sz="1050" dirty="0"/>
          </a:p>
        </p:txBody>
      </p:sp>
      <p:sp>
        <p:nvSpPr>
          <p:cNvPr id="36" name="Shape 29"/>
          <p:cNvSpPr/>
          <p:nvPr/>
        </p:nvSpPr>
        <p:spPr>
          <a:xfrm>
            <a:off x="640080" y="5257800"/>
            <a:ext cx="3415284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CADCFC"/>
            </a:solidFill>
            <a:prstDash val="solid"/>
          </a:ln>
        </p:spPr>
      </p:sp>
      <p:sp>
        <p:nvSpPr>
          <p:cNvPr id="37" name="Text 30"/>
          <p:cNvSpPr/>
          <p:nvPr/>
        </p:nvSpPr>
        <p:spPr>
          <a:xfrm>
            <a:off x="640080" y="5257800"/>
            <a:ext cx="3415284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Time-Series Anomaly Detection</a:t>
            </a:r>
            <a:endParaRPr lang="en-US" sz="1050" dirty="0"/>
          </a:p>
        </p:txBody>
      </p:sp>
      <p:sp>
        <p:nvSpPr>
          <p:cNvPr id="38" name="Shape 31"/>
          <p:cNvSpPr/>
          <p:nvPr/>
        </p:nvSpPr>
        <p:spPr>
          <a:xfrm>
            <a:off x="4192524" y="5257800"/>
            <a:ext cx="1837944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CADCFC"/>
            </a:solidFill>
            <a:prstDash val="solid"/>
          </a:ln>
        </p:spPr>
      </p:sp>
      <p:sp>
        <p:nvSpPr>
          <p:cNvPr id="39" name="Text 32"/>
          <p:cNvSpPr/>
          <p:nvPr/>
        </p:nvSpPr>
        <p:spPr>
          <a:xfrm>
            <a:off x="4192524" y="5257800"/>
            <a:ext cx="1837944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</a:t>
            </a:r>
            <a:endParaRPr lang="en-US" sz="1050" dirty="0"/>
          </a:p>
        </p:txBody>
      </p:sp>
      <p:sp>
        <p:nvSpPr>
          <p:cNvPr id="40" name="Shape 33"/>
          <p:cNvSpPr/>
          <p:nvPr/>
        </p:nvSpPr>
        <p:spPr>
          <a:xfrm>
            <a:off x="6167628" y="5257800"/>
            <a:ext cx="1417320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CADCFC"/>
            </a:solidFill>
            <a:prstDash val="solid"/>
          </a:ln>
        </p:spPr>
      </p:sp>
      <p:sp>
        <p:nvSpPr>
          <p:cNvPr id="41" name="Text 34"/>
          <p:cNvSpPr/>
          <p:nvPr/>
        </p:nvSpPr>
        <p:spPr>
          <a:xfrm>
            <a:off x="6167628" y="5257800"/>
            <a:ext cx="14173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Clustering</a:t>
            </a:r>
            <a:endParaRPr lang="en-US" sz="1050" dirty="0"/>
          </a:p>
        </p:txBody>
      </p:sp>
      <p:sp>
        <p:nvSpPr>
          <p:cNvPr id="42" name="Shape 35"/>
          <p:cNvSpPr/>
          <p:nvPr/>
        </p:nvSpPr>
        <p:spPr>
          <a:xfrm>
            <a:off x="7722108" y="5257800"/>
            <a:ext cx="1943100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CADCFC"/>
            </a:solidFill>
            <a:prstDash val="solid"/>
          </a:ln>
        </p:spPr>
      </p:sp>
      <p:sp>
        <p:nvSpPr>
          <p:cNvPr id="43" name="Text 36"/>
          <p:cNvSpPr/>
          <p:nvPr/>
        </p:nvSpPr>
        <p:spPr>
          <a:xfrm>
            <a:off x="7722108" y="5257800"/>
            <a:ext cx="19431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 Reasoning</a:t>
            </a:r>
            <a:endParaRPr lang="en-US" sz="1050" dirty="0"/>
          </a:p>
        </p:txBody>
      </p:sp>
      <p:sp>
        <p:nvSpPr>
          <p:cNvPr id="44" name="Shape 37"/>
          <p:cNvSpPr/>
          <p:nvPr/>
        </p:nvSpPr>
        <p:spPr>
          <a:xfrm>
            <a:off x="640080" y="5760720"/>
            <a:ext cx="2574036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CADCFC"/>
            </a:solidFill>
            <a:prstDash val="solid"/>
          </a:ln>
        </p:spPr>
      </p:sp>
      <p:sp>
        <p:nvSpPr>
          <p:cNvPr id="45" name="Text 38"/>
          <p:cNvSpPr/>
          <p:nvPr/>
        </p:nvSpPr>
        <p:spPr>
          <a:xfrm>
            <a:off x="640080" y="5760720"/>
            <a:ext cx="2574036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Generative AI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457200"/>
            <a:ext cx="91440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POC Results : Held-Out Test Set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143000"/>
            <a:ext cx="106984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models trained on the same 60/20/20 split — scored only on the 20% of providers neither model ever saw during fitting or threshold tuning.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1783080"/>
            <a:ext cx="5349240" cy="4572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2700">
            <a:solidFill>
              <a:srgbClr val="E1E6EF"/>
            </a:solidFill>
            <a:prstDash val="solid"/>
          </a:ln>
          <a:effectLst>
            <a:outerShdw blurRad="76200" dist="25400" dir="5400000" algn="bl" rotWithShape="0">
              <a:srgbClr val="1A1A2E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14400" y="2011680"/>
            <a:ext cx="47548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PCA-AUTOENCODER  ·  UNSUPERVISED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14400" y="2313432"/>
            <a:ext cx="47548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Time-Series Anomaly Detection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914400" y="2834640"/>
            <a:ext cx="164592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0.721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914400" y="3410712"/>
            <a:ext cx="16459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AUC-ROC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2560320" y="2834640"/>
            <a:ext cx="164592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0.289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2560320" y="3410712"/>
            <a:ext cx="16459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AUC-PR</a:t>
            </a:r>
            <a:endParaRPr lang="en-US" sz="105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/>
        </p:nvGraphicFramePr>
        <p:xfrm>
          <a:off x="914400" y="3931920"/>
          <a:ext cx="4800600" cy="1234440"/>
        </p:xfrm>
        <a:graphic>
          <a:graphicData uri="http://schemas.openxmlformats.org/drawingml/2006/table">
            <a:tbl>
              <a:tblPr/>
              <a:tblGrid>
                <a:gridCol w="1600200"/>
                <a:gridCol w="1600200"/>
                <a:gridCol w="1600200"/>
              </a:tblGrid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Pred: Clean</a:t>
                      </a:r>
                      <a:endParaRPr lang="en-US" sz="115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Pred: Fraud</a:t>
                      </a:r>
                      <a:endParaRPr lang="en-US" sz="115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Actual: Clean</a:t>
                      </a:r>
                      <a:endParaRPr lang="en-US" sz="115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661</a:t>
                      </a:r>
                      <a:endParaRPr lang="en-US" sz="115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97</a:t>
                      </a:r>
                      <a:endParaRPr lang="en-US" sz="115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Actual: Fraud</a:t>
                      </a:r>
                      <a:endParaRPr lang="en-US" sz="115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53</a:t>
                      </a:r>
                      <a:endParaRPr lang="en-US" sz="115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46</a:t>
                      </a:r>
                      <a:endParaRPr lang="en-US" sz="115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AE2"/>
                    </a:solidFill>
                  </a:tcPr>
                </a:tc>
              </a:tr>
            </a:tbl>
          </a:graphicData>
        </a:graphic>
      </p:graphicFrame>
      <p:sp>
        <p:nvSpPr>
          <p:cNvPr id="14" name="Text 11"/>
          <p:cNvSpPr/>
          <p:nvPr/>
        </p:nvSpPr>
        <p:spPr>
          <a:xfrm>
            <a:off x="914400" y="5303520"/>
            <a:ext cx="4800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 32.2%  ·  Recall 46.5%  ·  F2 42.7%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914400" y="5669280"/>
            <a:ext cx="48006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suited to catching novel patterns with no historical label.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6172200" y="1783080"/>
            <a:ext cx="5349240" cy="4572000"/>
          </a:xfrm>
          <a:prstGeom prst="roundRect">
            <a:avLst>
              <a:gd name="adj" fmla="val 2400"/>
            </a:avLst>
          </a:prstGeom>
          <a:solidFill>
            <a:srgbClr val="1E2761"/>
          </a:solidFill>
          <a:effectLst>
            <a:outerShdw blurRad="101600" dist="38100" dir="5400000" algn="bl" rotWithShape="0">
              <a:srgbClr val="1A1A2E">
                <a:alpha val="15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6446520" y="2011680"/>
            <a:ext cx="47548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 ·  SUPERVISED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6446520" y="2313432"/>
            <a:ext cx="47548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Classification</a:t>
            </a:r>
            <a:endParaRPr lang="en-US" sz="1700" dirty="0"/>
          </a:p>
        </p:txBody>
      </p:sp>
      <p:sp>
        <p:nvSpPr>
          <p:cNvPr id="19" name="Text 16"/>
          <p:cNvSpPr/>
          <p:nvPr/>
        </p:nvSpPr>
        <p:spPr>
          <a:xfrm>
            <a:off x="6446520" y="2834640"/>
            <a:ext cx="164592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0.930</a:t>
            </a:r>
            <a:endParaRPr lang="en-US" sz="3400" dirty="0"/>
          </a:p>
        </p:txBody>
      </p:sp>
      <p:sp>
        <p:nvSpPr>
          <p:cNvPr id="20" name="Text 17"/>
          <p:cNvSpPr/>
          <p:nvPr/>
        </p:nvSpPr>
        <p:spPr>
          <a:xfrm>
            <a:off x="6446520" y="3410712"/>
            <a:ext cx="16459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AUC-ROC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8092440" y="2834640"/>
            <a:ext cx="164592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0.670</a:t>
            </a:r>
            <a:endParaRPr lang="en-US" sz="3400" dirty="0"/>
          </a:p>
        </p:txBody>
      </p:sp>
      <p:sp>
        <p:nvSpPr>
          <p:cNvPr id="22" name="Text 19"/>
          <p:cNvSpPr/>
          <p:nvPr/>
        </p:nvSpPr>
        <p:spPr>
          <a:xfrm>
            <a:off x="8092440" y="3410712"/>
            <a:ext cx="16459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AUC-PR</a:t>
            </a:r>
            <a:endParaRPr lang="en-US" sz="1050" dirty="0"/>
          </a:p>
        </p:txBody>
      </p:sp>
      <p:graphicFrame>
        <p:nvGraphicFramePr>
          <p:cNvPr id="23" name="Table 1"/>
          <p:cNvGraphicFramePr>
            <a:graphicFrameLocks noGrp="1"/>
          </p:cNvGraphicFramePr>
          <p:nvPr/>
        </p:nvGraphicFramePr>
        <p:xfrm>
          <a:off x="6446520" y="3931920"/>
          <a:ext cx="4800600" cy="1234440"/>
        </p:xfrm>
        <a:graphic>
          <a:graphicData uri="http://schemas.openxmlformats.org/drawingml/2006/table">
            <a:tbl>
              <a:tblPr/>
              <a:tblGrid>
                <a:gridCol w="1600200"/>
                <a:gridCol w="1600200"/>
                <a:gridCol w="1600200"/>
              </a:tblGrid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B44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B44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B44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B44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Pred: Clean</a:t>
                      </a:r>
                      <a:endParaRPr lang="en-US" sz="115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B44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B44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B44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B44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Pred: Fraud</a:t>
                      </a:r>
                      <a:endParaRPr lang="en-US" sz="115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B44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B44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B44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B44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Actual: Clean</a:t>
                      </a:r>
                      <a:endParaRPr lang="en-US" sz="115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B44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B44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B44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B44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C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618</a:t>
                      </a:r>
                      <a:endParaRPr lang="en-US" sz="115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B44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B44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B44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B44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C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140</a:t>
                      </a:r>
                      <a:endParaRPr lang="en-US" sz="115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B44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B44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B44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B44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C6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Actual: Fraud</a:t>
                      </a:r>
                      <a:endParaRPr lang="en-US" sz="115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B44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B44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B44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B44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C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115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B44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B44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B44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B44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C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88</a:t>
                      </a:r>
                      <a:endParaRPr lang="en-US" sz="1150" dirty="0">
                        <a:latin typeface="Calibri" pitchFamily="34" charset="0"/>
                        <a:ea typeface="Calibri" pitchFamily="34" charset="0"/>
                        <a:cs typeface="Calibri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B44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B44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B44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B44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E9A6E"/>
                    </a:solidFill>
                  </a:tcPr>
                </a:tc>
              </a:tr>
            </a:tbl>
          </a:graphicData>
        </a:graphic>
      </p:graphicFrame>
      <p:sp>
        <p:nvSpPr>
          <p:cNvPr id="24" name="Text 20"/>
          <p:cNvSpPr/>
          <p:nvPr/>
        </p:nvSpPr>
        <p:spPr>
          <a:xfrm>
            <a:off x="6446520" y="5303520"/>
            <a:ext cx="4800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 38.6%  ·  Recall 88.9%  ·  F2 70.5%</a:t>
            </a:r>
            <a:endParaRPr lang="en-US" sz="1150" dirty="0"/>
          </a:p>
        </p:txBody>
      </p:sp>
      <p:sp>
        <p:nvSpPr>
          <p:cNvPr id="25" name="Text 21"/>
          <p:cNvSpPr/>
          <p:nvPr/>
        </p:nvSpPr>
        <p:spPr>
          <a:xfrm>
            <a:off x="6446520" y="5669280"/>
            <a:ext cx="48006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suited to catching fraud resembling known, labeled patterns.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011680" y="-2011680"/>
            <a:ext cx="5029200" cy="5029200"/>
          </a:xfrm>
          <a:prstGeom prst="ellipse">
            <a:avLst/>
          </a:prstGeom>
          <a:solidFill>
            <a:srgbClr val="141B48"/>
          </a:solidFill>
        </p:spPr>
      </p:sp>
      <p:sp>
        <p:nvSpPr>
          <p:cNvPr id="3" name="Text 1"/>
          <p:cNvSpPr/>
          <p:nvPr/>
        </p:nvSpPr>
        <p:spPr>
          <a:xfrm>
            <a:off x="731520" y="1371600"/>
            <a:ext cx="731520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731520" y="2286000"/>
            <a:ext cx="7589520" cy="13716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ts val="22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report identifies the strategic opportunity — a unified pipeline across seven pattern-recognition techniques. The proof of concept shows it's technically achievable today, with honest, held-out results on real claims data.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31520" y="3977640"/>
            <a:ext cx="1280160" cy="0"/>
          </a:xfrm>
          <a:prstGeom prst="line">
            <a:avLst/>
          </a:prstGeom>
          <a:noFill/>
          <a:ln w="25400">
            <a:solidFill>
              <a:srgbClr val="CADCF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4206240"/>
            <a:ext cx="54864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you.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5120640"/>
            <a:ext cx="54864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Priya Mittal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31520" y="5486400"/>
            <a:ext cx="64008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mittalpriya2024@gmail.com  |  (630) 380-8118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5806440"/>
            <a:ext cx="64008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github.com/Priiyaa  |  linkedin.com/in/priya-mittal-34aa731b6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4970</Words>
  <Application>WPS Writer</Application>
  <PresentationFormat>On-screen Show (16:9)</PresentationFormat>
  <Paragraphs>260</Paragraphs>
  <Slides>8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24" baseType="lpstr">
      <vt:lpstr>Arial</vt:lpstr>
      <vt:lpstr>SimSun</vt:lpstr>
      <vt:lpstr>Wingdings</vt:lpstr>
      <vt:lpstr>Calibri</vt:lpstr>
      <vt:lpstr>Helvetica Neue</vt:lpstr>
      <vt:lpstr>Calibri</vt:lpstr>
      <vt:lpstr>Calibri</vt:lpstr>
      <vt:lpstr>Cambria</vt:lpstr>
      <vt:lpstr>Cambria</vt:lpstr>
      <vt:lpstr>Cambria</vt:lpstr>
      <vt:lpstr>苹方-简</vt:lpstr>
      <vt:lpstr>Microsoft YaHei</vt:lpstr>
      <vt:lpstr>汉仪旗黑</vt:lpstr>
      <vt:lpstr>Arial Unicode MS</vt:lpstr>
      <vt:lpstr>宋体-简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creator>PptxGenJS</dc:creator>
  <dc:subject>PptxGenJS Presentation</dc:subject>
  <cp:lastModifiedBy>priyamittal</cp:lastModifiedBy>
  <cp:revision>3</cp:revision>
  <dcterms:created xsi:type="dcterms:W3CDTF">2026-08-18T20:00:42Z</dcterms:created>
  <dcterms:modified xsi:type="dcterms:W3CDTF">2026-08-18T20:00:42Z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1033-5.7.3.8095</vt:lpwstr>
  </property>
</Properties>
</file>